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172A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Prim’s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Spanning Tree – Greedy Method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Design and Analysis of Algorithms (DAA)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547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Tanisha Arora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95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25070521116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V="1">
            <a:off x="4754880" y="1188720"/>
            <a:ext cx="1188720" cy="109728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943600" y="1737360"/>
            <a:ext cx="1371600" cy="164592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5943600" y="3017520"/>
            <a:ext cx="1371600" cy="36576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737360"/>
            <a:ext cx="1188720" cy="64008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286000"/>
            <a:ext cx="1188720" cy="1097280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188720"/>
            <a:ext cx="0" cy="2194560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188720"/>
            <a:ext cx="1371600" cy="548640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737360"/>
            <a:ext cx="0" cy="1280160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315200" y="2377440"/>
            <a:ext cx="1188720" cy="640080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84648" y="16184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24414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30815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44968" y="19385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84648" y="27157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779008" y="21671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13441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50608" y="22585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44968" y="257860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0F172A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210312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100584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320040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155448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283464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219456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Basic Graph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640080" y="1417320"/>
            <a:ext cx="1010412" cy="93268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650492" y="1883664"/>
            <a:ext cx="1165860" cy="139903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650492" y="2971800"/>
            <a:ext cx="1165860" cy="31089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16352" y="1883664"/>
            <a:ext cx="1010412" cy="54406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50008"/>
            <a:ext cx="1010412" cy="932688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0492" y="1417320"/>
            <a:ext cx="0" cy="1865376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50492" y="1417320"/>
            <a:ext cx="1165860" cy="466344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6352" y="1883664"/>
            <a:ext cx="0" cy="1088136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816352" y="2427732"/>
            <a:ext cx="1010412" cy="544068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8982" y="1773936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87118" y="2473452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87118" y="301752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75254" y="204597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98982" y="2706624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504188" y="224028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87118" y="1540764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70048" y="2318004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175254" y="259003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" y="2185416"/>
            <a:ext cx="329184" cy="32918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85900" y="1252728"/>
            <a:ext cx="329184" cy="32918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85900" y="3118104"/>
            <a:ext cx="329184" cy="32918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1719072"/>
            <a:ext cx="329184" cy="32918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2807208"/>
            <a:ext cx="329184" cy="32918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662172" y="2263140"/>
            <a:ext cx="329184" cy="32918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91440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08760" y="1188720"/>
            <a:ext cx="118872" cy="64008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2651760" y="914400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H="1">
            <a:off x="2331720" y="1188720"/>
            <a:ext cx="594360" cy="36576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74320" y="3840480"/>
            <a:ext cx="731520" cy="274320"/>
          </a:xfrm>
          <a:prstGeom prst="roundRect">
            <a:avLst>
              <a:gd name="adj" fmla="val 33333"/>
            </a:avLst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flipV="1">
            <a:off x="640080" y="2697480"/>
            <a:ext cx="301752" cy="114300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0080" y="4434840"/>
            <a:ext cx="365760" cy="0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9728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edges = Spanning Tree (the MST)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96012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107899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8324" y="1184148"/>
            <a:ext cx="210312" cy="210312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5349240" y="102412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(Node)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349240" y="12984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point, like a city (S, A, B)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663440" y="1709928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773168" y="1828800"/>
            <a:ext cx="420624" cy="42062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24" y="1933956"/>
            <a:ext cx="210312" cy="210312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5349240" y="177393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5349240" y="20482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joining two vertices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4663440" y="2459736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4773168" y="2578608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2683764"/>
            <a:ext cx="210312" cy="210312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5349240" y="252374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 (Cost)</a:t>
            </a:r>
            <a:endParaRPr lang="en-US" sz="1400" dirty="0"/>
          </a:p>
        </p:txBody>
      </p:sp>
      <p:sp>
        <p:nvSpPr>
          <p:cNvPr id="49" name="Text 44"/>
          <p:cNvSpPr txBox="1"/>
          <p:nvPr/>
        </p:nvSpPr>
        <p:spPr>
          <a:xfrm>
            <a:off x="5349240" y="27980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or distance of an edge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4663440" y="3209544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4773168" y="3328416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24" y="3433572"/>
            <a:ext cx="210312" cy="210312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5349240" y="32735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</a:t>
            </a:r>
            <a:endParaRPr lang="en-US" sz="1400" dirty="0"/>
          </a:p>
        </p:txBody>
      </p:sp>
      <p:sp>
        <p:nvSpPr>
          <p:cNvPr id="54" name="Text 48"/>
          <p:cNvSpPr txBox="1"/>
          <p:nvPr/>
        </p:nvSpPr>
        <p:spPr>
          <a:xfrm>
            <a:off x="5349240" y="35478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all vertices, no cycles</a:t>
            </a:r>
            <a:endParaRPr lang="en-US" sz="1200" dirty="0"/>
          </a:p>
        </p:txBody>
      </p:sp>
      <p:sp>
        <p:nvSpPr>
          <p:cNvPr id="55" name="Shape 49"/>
          <p:cNvSpPr/>
          <p:nvPr/>
        </p:nvSpPr>
        <p:spPr>
          <a:xfrm>
            <a:off x="4663440" y="3959352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Shape 50"/>
          <p:cNvSpPr/>
          <p:nvPr/>
        </p:nvSpPr>
        <p:spPr>
          <a:xfrm>
            <a:off x="4773168" y="4078224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4183380"/>
            <a:ext cx="210312" cy="210312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5349240" y="40233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Spanning Tree</a:t>
            </a:r>
            <a:endParaRPr lang="en-US" sz="1400" dirty="0"/>
          </a:p>
        </p:txBody>
      </p:sp>
      <p:sp>
        <p:nvSpPr>
          <p:cNvPr id="59" name="Text 52"/>
          <p:cNvSpPr txBox="1"/>
          <p:nvPr/>
        </p:nvSpPr>
        <p:spPr>
          <a:xfrm>
            <a:off x="5349240" y="4297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 with the least total cost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What is Prim’s Algorithm?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greedy algorithm that finds a Minimum Spanning Tree (MST) of a connected, weighted, undirected graph.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flipV="1">
            <a:off x="640080" y="1920240"/>
            <a:ext cx="950976" cy="87782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798064"/>
            <a:ext cx="950976" cy="87782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1920240"/>
            <a:ext cx="0" cy="17556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91056" y="1920240"/>
            <a:ext cx="1097280" cy="43891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591056" y="2359152"/>
            <a:ext cx="1097280" cy="131673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591056" y="3383280"/>
            <a:ext cx="1097280" cy="29260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2359152"/>
            <a:ext cx="0" cy="102412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88336" y="2359152"/>
            <a:ext cx="950976" cy="51206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688336" y="2871216"/>
            <a:ext cx="950976" cy="51206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8408" y="2258568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3136392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53896" y="2697480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002536" y="2039112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002536" y="29169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02536" y="3429000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551176" y="2770632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026664" y="2514600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026664" y="3026664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" y="264261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35608" y="176479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35608" y="352044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532888" y="2203704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532888" y="32278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83864" y="2715768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5486400" y="1920240"/>
            <a:ext cx="950976" cy="877824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437376" y="2359152"/>
            <a:ext cx="1097280" cy="1316736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437376" y="3383280"/>
            <a:ext cx="1097280" cy="29260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34656" y="2359152"/>
            <a:ext cx="950976" cy="512064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2798064"/>
            <a:ext cx="950976" cy="877824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37376" y="1920240"/>
            <a:ext cx="0" cy="1755648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7376" y="1920240"/>
            <a:ext cx="1097280" cy="438912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34656" y="2359152"/>
            <a:ext cx="0" cy="1024128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7534656" y="2871216"/>
            <a:ext cx="950976" cy="512064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24728" y="2258568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48856" y="2916936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848856" y="3429000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872984" y="2514600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824728" y="3136392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300216" y="2697480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848856" y="2039112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397496" y="2770632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872984" y="3026664"/>
            <a:ext cx="2743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330952" y="2642616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281928" y="1764792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281928" y="3520440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7379208" y="2203704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379208" y="3227832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330184" y="2715768"/>
            <a:ext cx="310896" cy="31089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graph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(cost 20)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06908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Prim’s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069080" y="2560320"/>
            <a:ext cx="1005840" cy="512064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429768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method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3246120" y="429768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cycles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6035040" y="4297680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total cost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Main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731520" y="1234440"/>
            <a:ext cx="1188720" cy="10972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1783080"/>
            <a:ext cx="0" cy="1280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1783080"/>
            <a:ext cx="1188720" cy="6400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291840" y="2423160"/>
            <a:ext cx="1188720" cy="6400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31720"/>
            <a:ext cx="1188720" cy="109728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234440"/>
            <a:ext cx="0" cy="219456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234440"/>
            <a:ext cx="1371600" cy="548640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920240" y="1783080"/>
            <a:ext cx="1371600" cy="1645920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V="1">
            <a:off x="1920240" y="3063240"/>
            <a:ext cx="1371600" cy="365760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161288" y="166420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27248" y="23042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19842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21608" y="262432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" y="27614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755648" y="22128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41448" y="138988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441448" y="24871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441448" y="312724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14884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105156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324612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1600200"/>
            <a:ext cx="365760" cy="36576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28803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22402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3913632"/>
            <a:ext cx="32004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4300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8800" y="3913632"/>
            <a:ext cx="32004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4028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3913632"/>
            <a:ext cx="320040" cy="0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0332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100584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029200" y="125272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715000" y="1161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715000" y="1527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vertex as the root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46320" y="210312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5029200" y="2350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5715000" y="2258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5715000" y="2624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edge to a new vertex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46320" y="32004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5029200" y="344728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5715000" y="3355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571500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it. Repeat until done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= take the cheapest choice at every step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Algorithm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430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loops and parallel edges (keep the cheapest)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990088" y="1709928"/>
            <a:ext cx="274320" cy="237744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100584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1430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2801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1280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start vertex (root)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870448" y="1709928"/>
            <a:ext cx="274320" cy="237744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00584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55080" y="11430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801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40880" y="1280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edges leaving the tree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283464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4360" y="297180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9436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cheapest edge to an unvisited vertex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2990088" y="3538728"/>
            <a:ext cx="274320" cy="237744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337560" y="283464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74720" y="297180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10896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16052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that edge and vertex to the tree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5870448" y="3538728"/>
            <a:ext cx="274320" cy="237744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17920" y="283464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355080" y="29718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10896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04088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635508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all vertices are included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Example Graph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731520" y="1280160"/>
            <a:ext cx="1604772" cy="148132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61488"/>
            <a:ext cx="1604772" cy="148132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6292" y="1280160"/>
            <a:ext cx="0" cy="296265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6292" y="1280160"/>
            <a:ext cx="1851660" cy="74066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336292" y="2020824"/>
            <a:ext cx="1851660" cy="222199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336292" y="3749040"/>
            <a:ext cx="1851660" cy="49377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87952" y="2020824"/>
            <a:ext cx="0" cy="172821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7952" y="2020824"/>
            <a:ext cx="1604772" cy="86410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187952" y="2884932"/>
            <a:ext cx="1604772" cy="86410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41882" y="1883664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41882" y="336499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144268" y="2624328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70098" y="151333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070098" y="2994660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070098" y="3858768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95928" y="2747772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98314" y="2315718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798314" y="3179826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" y="2542032"/>
            <a:ext cx="438912" cy="438912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116836" y="106070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116836" y="4023360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968496" y="1801368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968496" y="352958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73268" y="2665476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2103120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2359152"/>
            <a:ext cx="0" cy="173736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97280"/>
          <a:ext cx="2286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–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–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–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64008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6, E = 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Step-by-Step Example (Start at 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14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S–B (5)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S–A 7 · S–B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95958" y="1325880"/>
            <a:ext cx="0" cy="921715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5958" y="1325880"/>
            <a:ext cx="576072" cy="230429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495958" y="1556309"/>
            <a:ext cx="576072" cy="69128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495958" y="2093976"/>
            <a:ext cx="576072" cy="153619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72030" y="1556309"/>
            <a:ext cx="0" cy="537667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2030" y="1556309"/>
            <a:ext cx="499262" cy="26883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072030" y="1825142"/>
            <a:ext cx="499262" cy="26883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96696" y="1325880"/>
            <a:ext cx="499262" cy="460858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96696" y="1786738"/>
            <a:ext cx="499262" cy="460858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7086" y="1695298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65122" y="134965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665122" y="181051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665122" y="207934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953158" y="173370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202790" y="159928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202790" y="1868119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" y="1464869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" y="192572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1667866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377086" y="120700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77086" y="2128723"/>
            <a:ext cx="237744" cy="237744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953158" y="1437437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953158" y="1975104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452421" y="1706270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8686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383280" y="9144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041648" y="914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B–A (4)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S–A 7 · B–A 4 · B–C 8 · B–D 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30598" y="1325880"/>
            <a:ext cx="576072" cy="230429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06670" y="1556309"/>
            <a:ext cx="0" cy="537667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06670" y="1556309"/>
            <a:ext cx="499262" cy="26883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906670" y="1825142"/>
            <a:ext cx="499262" cy="26883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831336" y="1325880"/>
            <a:ext cx="499262" cy="460858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831336" y="1786738"/>
            <a:ext cx="499262" cy="46085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30598" y="1325880"/>
            <a:ext cx="0" cy="921715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4330598" y="1556309"/>
            <a:ext cx="576072" cy="691286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 flipV="1">
            <a:off x="4330598" y="2093976"/>
            <a:ext cx="576072" cy="153619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4499762" y="134965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787798" y="173370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037430" y="159928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037430" y="1868119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3962095" y="1464869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962095" y="192572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211726" y="1695298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499762" y="181051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499762" y="207934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3712464" y="1667866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4211726" y="1207008"/>
            <a:ext cx="237744" cy="237744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211726" y="2128723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4787798" y="1437437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787798" y="1975104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5287061" y="1706270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126480" y="8686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6217920" y="9144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6876288" y="914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A–C (6)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21792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A–C 6 · B–C 8 · B–D 9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 flipV="1">
            <a:off x="6665976" y="1325880"/>
            <a:ext cx="499262" cy="46085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41310" y="1556309"/>
            <a:ext cx="0" cy="537667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41310" y="1556309"/>
            <a:ext cx="499262" cy="26883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7741310" y="1825142"/>
            <a:ext cx="499262" cy="26883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65976" y="1786738"/>
            <a:ext cx="499262" cy="46085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65238" y="1325880"/>
            <a:ext cx="0" cy="921715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65238" y="1325880"/>
            <a:ext cx="576072" cy="230429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7165238" y="1556309"/>
            <a:ext cx="576072" cy="691286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V="1">
            <a:off x="7165238" y="2093976"/>
            <a:ext cx="576072" cy="153619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72" name="Text 70"/>
          <p:cNvSpPr txBox="1"/>
          <p:nvPr/>
        </p:nvSpPr>
        <p:spPr>
          <a:xfrm>
            <a:off x="6796735" y="1464869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7622438" y="173370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7872070" y="159928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7872070" y="1868119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6796735" y="192572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7046366" y="1695298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7334402" y="134965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7334402" y="181051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7334402" y="207934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6547104" y="1667866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7046366" y="1207008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7046366" y="2128723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622438" y="1437437"/>
            <a:ext cx="237744" cy="237744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7622438" y="1975104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8121701" y="1706270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457200" y="2807208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8" name="Text 86"/>
          <p:cNvSpPr txBox="1"/>
          <p:nvPr/>
        </p:nvSpPr>
        <p:spPr>
          <a:xfrm>
            <a:off x="548640" y="2852928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1207008" y="2852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C–D (3)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548640" y="4361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B–D 9 · C–D 3 · C–T 10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 flipV="1">
            <a:off x="996696" y="3264408"/>
            <a:ext cx="499262" cy="46085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1495958" y="3494837"/>
            <a:ext cx="576072" cy="69128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2072030" y="3763670"/>
            <a:ext cx="499262" cy="26883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96696" y="3725266"/>
            <a:ext cx="499262" cy="46085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495958" y="3264408"/>
            <a:ext cx="0" cy="921715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495958" y="3264408"/>
            <a:ext cx="576072" cy="230429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1495958" y="4032504"/>
            <a:ext cx="576072" cy="153619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2072030" y="3494837"/>
            <a:ext cx="0" cy="537667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072030" y="3494837"/>
            <a:ext cx="499262" cy="268834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100" name="Text 98"/>
          <p:cNvSpPr txBox="1"/>
          <p:nvPr/>
        </p:nvSpPr>
        <p:spPr>
          <a:xfrm>
            <a:off x="1127455" y="3403397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1665122" y="3749040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02" name="Text 100"/>
          <p:cNvSpPr txBox="1"/>
          <p:nvPr/>
        </p:nvSpPr>
        <p:spPr>
          <a:xfrm>
            <a:off x="2202790" y="3806647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3" name="Text 101"/>
          <p:cNvSpPr txBox="1"/>
          <p:nvPr/>
        </p:nvSpPr>
        <p:spPr>
          <a:xfrm>
            <a:off x="1127455" y="386425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4" name="Text 102"/>
          <p:cNvSpPr txBox="1"/>
          <p:nvPr/>
        </p:nvSpPr>
        <p:spPr>
          <a:xfrm>
            <a:off x="1377086" y="363382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1665122" y="328818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6" name="Text 104"/>
          <p:cNvSpPr txBox="1"/>
          <p:nvPr/>
        </p:nvSpPr>
        <p:spPr>
          <a:xfrm>
            <a:off x="1665122" y="401787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07" name="Text 105"/>
          <p:cNvSpPr txBox="1"/>
          <p:nvPr/>
        </p:nvSpPr>
        <p:spPr>
          <a:xfrm>
            <a:off x="1953158" y="3672230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8" name="Text 106"/>
          <p:cNvSpPr txBox="1"/>
          <p:nvPr/>
        </p:nvSpPr>
        <p:spPr>
          <a:xfrm>
            <a:off x="2202790" y="353781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9" name="Text 107"/>
          <p:cNvSpPr txBox="1"/>
          <p:nvPr/>
        </p:nvSpPr>
        <p:spPr>
          <a:xfrm>
            <a:off x="877824" y="3606394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10" name="Text 108"/>
          <p:cNvSpPr txBox="1"/>
          <p:nvPr/>
        </p:nvSpPr>
        <p:spPr>
          <a:xfrm>
            <a:off x="1377086" y="3145536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11" name="Text 109"/>
          <p:cNvSpPr txBox="1"/>
          <p:nvPr/>
        </p:nvSpPr>
        <p:spPr>
          <a:xfrm>
            <a:off x="1377086" y="4067251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12" name="Text 110"/>
          <p:cNvSpPr txBox="1"/>
          <p:nvPr/>
        </p:nvSpPr>
        <p:spPr>
          <a:xfrm>
            <a:off x="1953158" y="3375965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13" name="Text 111"/>
          <p:cNvSpPr txBox="1"/>
          <p:nvPr/>
        </p:nvSpPr>
        <p:spPr>
          <a:xfrm>
            <a:off x="1953158" y="3913632"/>
            <a:ext cx="237744" cy="237744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14" name="Text 112"/>
          <p:cNvSpPr txBox="1"/>
          <p:nvPr/>
        </p:nvSpPr>
        <p:spPr>
          <a:xfrm>
            <a:off x="2452421" y="364479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3291840" y="2807208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6" name="Text 114"/>
          <p:cNvSpPr txBox="1"/>
          <p:nvPr/>
        </p:nvSpPr>
        <p:spPr>
          <a:xfrm>
            <a:off x="3383280" y="2852928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117" name="Text 115"/>
          <p:cNvSpPr txBox="1"/>
          <p:nvPr/>
        </p:nvSpPr>
        <p:spPr>
          <a:xfrm>
            <a:off x="4041648" y="2852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D–T (2)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3383280" y="4361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C–T 10 · D–T 2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 flipV="1">
            <a:off x="3831336" y="3264408"/>
            <a:ext cx="499262" cy="46085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4330598" y="3494837"/>
            <a:ext cx="576072" cy="69128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4330598" y="4032504"/>
            <a:ext cx="576072" cy="153619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831336" y="3725266"/>
            <a:ext cx="499262" cy="46085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330598" y="3264408"/>
            <a:ext cx="0" cy="921715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30598" y="3264408"/>
            <a:ext cx="576072" cy="230429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906670" y="3494837"/>
            <a:ext cx="0" cy="537667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906670" y="3494837"/>
            <a:ext cx="499262" cy="268834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 flipV="1">
            <a:off x="4906670" y="3763670"/>
            <a:ext cx="499262" cy="268834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3962095" y="3403397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9" name="Text 127"/>
          <p:cNvSpPr txBox="1"/>
          <p:nvPr/>
        </p:nvSpPr>
        <p:spPr>
          <a:xfrm>
            <a:off x="4499762" y="3749040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30" name="Text 128"/>
          <p:cNvSpPr txBox="1"/>
          <p:nvPr/>
        </p:nvSpPr>
        <p:spPr>
          <a:xfrm>
            <a:off x="4499762" y="401787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31" name="Text 129"/>
          <p:cNvSpPr txBox="1"/>
          <p:nvPr/>
        </p:nvSpPr>
        <p:spPr>
          <a:xfrm>
            <a:off x="3962095" y="386425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2" name="Text 130"/>
          <p:cNvSpPr txBox="1"/>
          <p:nvPr/>
        </p:nvSpPr>
        <p:spPr>
          <a:xfrm>
            <a:off x="4211726" y="363382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33" name="Text 131"/>
          <p:cNvSpPr txBox="1"/>
          <p:nvPr/>
        </p:nvSpPr>
        <p:spPr>
          <a:xfrm>
            <a:off x="4499762" y="328818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34" name="Text 132"/>
          <p:cNvSpPr txBox="1"/>
          <p:nvPr/>
        </p:nvSpPr>
        <p:spPr>
          <a:xfrm>
            <a:off x="4787798" y="3672230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5" name="Text 133"/>
          <p:cNvSpPr txBox="1"/>
          <p:nvPr/>
        </p:nvSpPr>
        <p:spPr>
          <a:xfrm>
            <a:off x="5037430" y="353781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36" name="Text 134"/>
          <p:cNvSpPr txBox="1"/>
          <p:nvPr/>
        </p:nvSpPr>
        <p:spPr>
          <a:xfrm>
            <a:off x="5037430" y="3806647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7" name="Text 135"/>
          <p:cNvSpPr txBox="1"/>
          <p:nvPr/>
        </p:nvSpPr>
        <p:spPr>
          <a:xfrm>
            <a:off x="3712464" y="3606394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38" name="Text 136"/>
          <p:cNvSpPr txBox="1"/>
          <p:nvPr/>
        </p:nvSpPr>
        <p:spPr>
          <a:xfrm>
            <a:off x="4211726" y="3145536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39" name="Text 137"/>
          <p:cNvSpPr txBox="1"/>
          <p:nvPr/>
        </p:nvSpPr>
        <p:spPr>
          <a:xfrm>
            <a:off x="4211726" y="4067251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40" name="Text 138"/>
          <p:cNvSpPr txBox="1"/>
          <p:nvPr/>
        </p:nvSpPr>
        <p:spPr>
          <a:xfrm>
            <a:off x="4787798" y="3375965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41" name="Text 139"/>
          <p:cNvSpPr txBox="1"/>
          <p:nvPr/>
        </p:nvSpPr>
        <p:spPr>
          <a:xfrm>
            <a:off x="4787798" y="3913632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42" name="Text 140"/>
          <p:cNvSpPr txBox="1"/>
          <p:nvPr/>
        </p:nvSpPr>
        <p:spPr>
          <a:xfrm>
            <a:off x="5287061" y="3644798"/>
            <a:ext cx="237744" cy="237744"/>
          </a:xfrm>
          <a:prstGeom prst="ellipse">
            <a:avLst/>
          </a:prstGeom>
          <a:solidFill>
            <a:srgbClr val="16A34A"/>
          </a:solidFill>
          <a:ln w="254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6126480" y="2807208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4" name="Text 142"/>
          <p:cNvSpPr txBox="1"/>
          <p:nvPr/>
        </p:nvSpPr>
        <p:spPr>
          <a:xfrm>
            <a:off x="6217920" y="2852928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45" name="Text 143"/>
          <p:cNvSpPr txBox="1"/>
          <p:nvPr/>
        </p:nvSpPr>
        <p:spPr>
          <a:xfrm>
            <a:off x="6876288" y="2852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vertices in tree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217920" y="4361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5 + 4 + 6 + 3 + 2 = 20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 flipV="1">
            <a:off x="6665976" y="3264408"/>
            <a:ext cx="499262" cy="46085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V="1">
            <a:off x="7165238" y="3494837"/>
            <a:ext cx="576072" cy="69128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7165238" y="4032504"/>
            <a:ext cx="576072" cy="153619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741310" y="3494837"/>
            <a:ext cx="499262" cy="26883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665976" y="3725266"/>
            <a:ext cx="499262" cy="460858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65238" y="3264408"/>
            <a:ext cx="0" cy="921715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65238" y="3264408"/>
            <a:ext cx="576072" cy="230429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741310" y="3494837"/>
            <a:ext cx="0" cy="537667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7741310" y="3763670"/>
            <a:ext cx="499262" cy="268834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6796735" y="3403397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57" name="Text 155"/>
          <p:cNvSpPr txBox="1"/>
          <p:nvPr/>
        </p:nvSpPr>
        <p:spPr>
          <a:xfrm>
            <a:off x="7334402" y="3749040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56"/>
          <p:cNvSpPr txBox="1"/>
          <p:nvPr/>
        </p:nvSpPr>
        <p:spPr>
          <a:xfrm>
            <a:off x="7334402" y="401787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59" name="Text 157"/>
          <p:cNvSpPr txBox="1"/>
          <p:nvPr/>
        </p:nvSpPr>
        <p:spPr>
          <a:xfrm>
            <a:off x="7872070" y="353781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60" name="Text 158"/>
          <p:cNvSpPr txBox="1"/>
          <p:nvPr/>
        </p:nvSpPr>
        <p:spPr>
          <a:xfrm>
            <a:off x="6796735" y="3864254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1" name="Text 159"/>
          <p:cNvSpPr txBox="1"/>
          <p:nvPr/>
        </p:nvSpPr>
        <p:spPr>
          <a:xfrm>
            <a:off x="7046366" y="3633826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2" name="Text 160"/>
          <p:cNvSpPr txBox="1"/>
          <p:nvPr/>
        </p:nvSpPr>
        <p:spPr>
          <a:xfrm>
            <a:off x="7334402" y="3288182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3" name="Text 161"/>
          <p:cNvSpPr txBox="1"/>
          <p:nvPr/>
        </p:nvSpPr>
        <p:spPr>
          <a:xfrm>
            <a:off x="7622438" y="3672230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4" name="Text 162"/>
          <p:cNvSpPr txBox="1"/>
          <p:nvPr/>
        </p:nvSpPr>
        <p:spPr>
          <a:xfrm>
            <a:off x="7872070" y="3806647"/>
            <a:ext cx="237744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5" name="Text 163"/>
          <p:cNvSpPr txBox="1"/>
          <p:nvPr/>
        </p:nvSpPr>
        <p:spPr>
          <a:xfrm>
            <a:off x="6547104" y="3606394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66" name="Text 164"/>
          <p:cNvSpPr txBox="1"/>
          <p:nvPr/>
        </p:nvSpPr>
        <p:spPr>
          <a:xfrm>
            <a:off x="7046366" y="3145536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67" name="Text 165"/>
          <p:cNvSpPr txBox="1"/>
          <p:nvPr/>
        </p:nvSpPr>
        <p:spPr>
          <a:xfrm>
            <a:off x="7046366" y="4067251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68" name="Text 166"/>
          <p:cNvSpPr txBox="1"/>
          <p:nvPr/>
        </p:nvSpPr>
        <p:spPr>
          <a:xfrm>
            <a:off x="7622438" y="3375965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69" name="Text 167"/>
          <p:cNvSpPr txBox="1"/>
          <p:nvPr/>
        </p:nvSpPr>
        <p:spPr>
          <a:xfrm>
            <a:off x="7622438" y="3913632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70" name="Text 168"/>
          <p:cNvSpPr txBox="1"/>
          <p:nvPr/>
        </p:nvSpPr>
        <p:spPr>
          <a:xfrm>
            <a:off x="8121701" y="3644798"/>
            <a:ext cx="237744" cy="23774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171" name="Text 169"/>
          <p:cNvSpPr txBox="1"/>
          <p:nvPr/>
        </p:nvSpPr>
        <p:spPr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in tree     </a:t>
            </a:r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dashed = candidate edges    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picked edge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Final Minimum Spanning Tree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731520" y="1188720"/>
            <a:ext cx="1129284" cy="1042416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860804" y="1709928"/>
            <a:ext cx="1303020" cy="1563624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860804" y="2926080"/>
            <a:ext cx="1303020" cy="34747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3824" y="1709928"/>
            <a:ext cx="1129284" cy="608076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31136"/>
            <a:ext cx="1129284" cy="1042416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60804" y="1188720"/>
            <a:ext cx="0" cy="2084832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60804" y="1188720"/>
            <a:ext cx="1303020" cy="521208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63824" y="1709928"/>
            <a:ext cx="0" cy="1216152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163824" y="2318004"/>
            <a:ext cx="1129284" cy="608076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31570" y="1591056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347722" y="2372868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47722" y="2980944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63874" y="1895094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31570" y="263347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96212" y="2112264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347722" y="133045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999232" y="2199132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63874" y="2503170"/>
            <a:ext cx="32918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048256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77924" y="100584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77924" y="3090672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80944" y="1527048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980944" y="2743200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110228" y="2135124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5156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Edges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–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– 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Minimum Cost = 5 + 4 + 6 + 3 + 2 = 20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Pseudocode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669280" cy="34290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155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Prim(Graph, start):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517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 = { start 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5449824" cy="365760"/>
          </a:xfrm>
          <a:prstGeom prst="roundRect">
            <a:avLst>
              <a:gd name="adj" fmla="val 12500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9202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tree has fewer than V vertices: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95144"/>
            <a:ext cx="5449824" cy="365760"/>
          </a:xfrm>
          <a:prstGeom prst="roundRect">
            <a:avLst>
              <a:gd name="adj" fmla="val 12500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3225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min-weight edge (u, v)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697480"/>
            <a:ext cx="5449824" cy="365760"/>
          </a:xfrm>
          <a:prstGeom prst="roundRect">
            <a:avLst>
              <a:gd name="adj" fmla="val 12500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7249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 is in tree, v is not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099816"/>
            <a:ext cx="5449824" cy="365760"/>
          </a:xfrm>
          <a:prstGeom prst="roundRect">
            <a:avLst>
              <a:gd name="adj" fmla="val 12500"/>
            </a:avLst>
          </a:prstGeom>
          <a:solidFill>
            <a:srgbClr val="16A34A">
              <a:alpha val="4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31272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vertex v to tree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502152"/>
            <a:ext cx="5449824" cy="365760"/>
          </a:xfrm>
          <a:prstGeom prst="roundRect">
            <a:avLst>
              <a:gd name="adj" fmla="val 12500"/>
            </a:avLst>
          </a:prstGeom>
          <a:solidFill>
            <a:srgbClr val="16A34A">
              <a:alpha val="4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35295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edge (u, v) to MST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9319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96012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137160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0515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all vertices are included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2130552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2542032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222199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minimum-weight edge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3300984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3712464"/>
            <a:ext cx="228600" cy="228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3392424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unvisited vertex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Time Complexity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2230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097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O(V²)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dense graphs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09728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2230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097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+ Min-Priority Queue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V)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sparse graphs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333756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40080" y="345643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1371600" y="34564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number of Vertices (nodes)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754880" y="333756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937760" y="3456432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5669280" y="34564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number of Edges (lines)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 graph: V = 6, E = 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3063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3944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74320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computers using the least cable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25980" y="1005840"/>
            <a:ext cx="1554480" cy="3063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491740" y="1188720"/>
            <a:ext cx="822960" cy="8229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3944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1742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Construction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235708" y="274320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towns with the shortest total road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94760" y="1005840"/>
            <a:ext cx="1554480" cy="3063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160520" y="1188720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3944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8620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Wiring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904488" y="274320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houses with the least wire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63540" y="1005840"/>
            <a:ext cx="1554480" cy="3063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829300" y="118872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3944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5498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573268" y="274320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towers at the lowest cost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132320" y="1005840"/>
            <a:ext cx="1554480" cy="3063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498080" y="1188720"/>
            <a:ext cx="822960" cy="8229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139446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2376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Networks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242048" y="274320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water or gas points with minimum pipe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= places     Weights = cost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9728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Prim’s Algorithm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408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one tree from a start vertex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9659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Approach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2276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cheapest edge at each step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74320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28346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718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3145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all vertices with no cycles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61188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4360" y="370332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Total Cost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325880" y="4014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 5 + 4 + 6 + 3 + 2 = 20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852160" y="1005840"/>
            <a:ext cx="2834640" cy="3246120"/>
          </a:xfrm>
          <a:prstGeom prst="roundRect">
            <a:avLst>
              <a:gd name="adj" fmla="val 32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325880"/>
            <a:ext cx="822960" cy="8229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943600" y="2331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Text 19"/>
          <p:cNvSpPr txBox="1"/>
          <p:nvPr/>
        </p:nvSpPr>
        <p:spPr>
          <a:xfrm>
            <a:off x="59436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Prim's Algorithm</dc:title>
  <dc:subject>PptxGenJS Presentation</dc:subject>
  <dc:creator>Tanisha Arora</dc:creator>
  <cp:lastModifiedBy>Tanisha Arora</cp:lastModifiedBy>
  <cp:revision>1</cp:revision>
  <dcterms:created xsi:type="dcterms:W3CDTF">2026-10-16T08:16:59Z</dcterms:created>
  <dcterms:modified xsi:type="dcterms:W3CDTF">2026-10-16T08:16:59Z</dcterms:modified>
</cp:coreProperties>
</file>